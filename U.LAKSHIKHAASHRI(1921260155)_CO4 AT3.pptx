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7" r:id="rId1"/>
  </p:sldMasterIdLst>
  <p:sldIdLst>
    <p:sldId id="257" r:id="rId2"/>
    <p:sldId id="261"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94660"/>
  </p:normalViewPr>
  <p:slideViewPr>
    <p:cSldViewPr snapToGrid="0">
      <p:cViewPr varScale="1">
        <p:scale>
          <a:sx n="64" d="100"/>
          <a:sy n="64" d="100"/>
        </p:scale>
        <p:origin x="98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lang="en-IN"/>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98EC9D53-FB90-42AE-A0FF-65F57EA57262}" type="slidenum">
              <a:rPr lang="en-IN" smtClean="0"/>
              <a:t>‹#›</a:t>
            </a:fld>
            <a:endParaRPr lang="en-IN"/>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167731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lang="en-IN"/>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A6934EB9-A716-4C17-AD6E-2DBFB3F2263E}" type="datetimeFigureOut">
              <a:rPr lang="en-IN" smtClean="0"/>
              <a:t>01-09-2026</a:t>
            </a:fld>
            <a:endParaRPr lang="en-IN"/>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98EC9D53-FB90-42AE-A0FF-65F57EA57262}" type="slidenum">
              <a:rPr lang="en-IN" smtClean="0"/>
              <a:t>‹#›</a:t>
            </a:fld>
            <a:endParaRPr lang="en-IN"/>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4886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IN"/>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98EC9D53-FB90-42AE-A0FF-65F57EA57262}" type="slidenum">
              <a:rPr lang="en-IN" smtClean="0"/>
              <a:t>‹#›</a:t>
            </a:fld>
            <a:endParaRPr lang="en-IN"/>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063807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98EC9D53-FB90-42AE-A0FF-65F57EA57262}" type="slidenum">
              <a:rPr lang="en-IN" smtClean="0"/>
              <a:t>‹#›</a:t>
            </a:fld>
            <a:endParaRPr lang="en-IN"/>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990982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98EC9D53-FB90-42AE-A0FF-65F57EA57262}" type="slidenum">
              <a:rPr lang="en-IN" smtClean="0"/>
              <a:t>‹#›</a:t>
            </a:fld>
            <a:endParaRPr lang="en-IN"/>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399208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A6934EB9-A716-4C17-AD6E-2DBFB3F2263E}" type="datetimeFigureOut">
              <a:rPr lang="en-IN" smtClean="0"/>
              <a:t>01-09-2026</a:t>
            </a:fld>
            <a:endParaRPr lang="en-IN"/>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98EC9D53-FB90-42AE-A0FF-65F57EA57262}" type="slidenum">
              <a:rPr lang="en-IN" smtClean="0"/>
              <a:t>‹#›</a:t>
            </a:fld>
            <a:endParaRPr lang="en-IN"/>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346122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8EC9D53-FB90-42AE-A0FF-65F57EA57262}" type="slidenum">
              <a:rPr lang="en-IN" smtClean="0"/>
              <a:t>‹#›</a:t>
            </a:fld>
            <a:endParaRPr lang="en-IN"/>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829210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A6934EB9-A716-4C17-AD6E-2DBFB3F2263E}" type="datetimeFigureOut">
              <a:rPr lang="en-IN" smtClean="0"/>
              <a:t>01-09-2026</a:t>
            </a:fld>
            <a:endParaRPr lang="en-IN"/>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98EC9D53-FB90-42AE-A0FF-65F57EA57262}" type="slidenum">
              <a:rPr lang="en-IN" smtClean="0"/>
              <a:t>‹#›</a:t>
            </a:fld>
            <a:endParaRPr lang="en-IN"/>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4655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A6934EB9-A716-4C17-AD6E-2DBFB3F2263E}" type="datetimeFigureOut">
              <a:rPr lang="en-IN" smtClean="0"/>
              <a:t>01-09-2026</a:t>
            </a:fld>
            <a:endParaRPr lang="en-IN"/>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98EC9D53-FB90-42AE-A0FF-65F57EA57262}" type="slidenum">
              <a:rPr lang="en-IN" smtClean="0"/>
              <a:t>‹#›</a:t>
            </a:fld>
            <a:endParaRPr lang="en-IN"/>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94462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8EC9D53-FB90-42AE-A0FF-65F57EA57262}" type="slidenum">
              <a:rPr lang="en-IN" smtClean="0"/>
              <a:t>‹#›</a:t>
            </a:fld>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9108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lang="en-IN"/>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A6934EB9-A716-4C17-AD6E-2DBFB3F2263E}" type="datetimeFigureOut">
              <a:rPr lang="en-IN" smtClean="0"/>
              <a:t>01-09-2026</a:t>
            </a:fld>
            <a:endParaRPr lang="en-IN"/>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98EC9D53-FB90-42AE-A0FF-65F57EA57262}" type="slidenum">
              <a:rPr lang="en-IN" smtClean="0"/>
              <a:t>‹#›</a:t>
            </a:fld>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3049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lang="en-IN"/>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A6934EB9-A716-4C17-AD6E-2DBFB3F2263E}" type="datetimeFigureOut">
              <a:rPr lang="en-IN" smtClean="0"/>
              <a:t>01-09-2026</a:t>
            </a:fld>
            <a:endParaRPr lang="en-IN"/>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98EC9D53-FB90-42AE-A0FF-65F57EA57262}" type="slidenum">
              <a:rPr lang="en-IN" smtClean="0"/>
              <a:t>‹#›</a:t>
            </a:fld>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7925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98EC9D53-FB90-42AE-A0FF-65F57EA57262}" type="slidenum">
              <a:rPr lang="en-IN" smtClean="0"/>
              <a:t>‹#›</a:t>
            </a:fld>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17888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98EC9D53-FB90-42AE-A0FF-65F57EA57262}" type="slidenum">
              <a:rPr lang="en-IN" smtClean="0"/>
              <a:t>‹#›</a:t>
            </a:fld>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46766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lang="en-IN"/>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A6934EB9-A716-4C17-AD6E-2DBFB3F2263E}" type="datetimeFigureOut">
              <a:rPr lang="en-IN" smtClean="0"/>
              <a:t>01-09-2026</a:t>
            </a:fld>
            <a:endParaRPr lang="en-IN"/>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98EC9D53-FB90-42AE-A0FF-65F57EA57262}" type="slidenum">
              <a:rPr lang="en-IN" smtClean="0"/>
              <a:t>‹#›</a:t>
            </a:fld>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823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98EC9D53-FB90-42AE-A0FF-65F57EA57262}" type="slidenum">
              <a:rPr lang="en-IN" smtClean="0"/>
              <a:t>‹#›</a:t>
            </a:fld>
            <a:endParaRPr lang="en-IN"/>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67321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lang="en-IN"/>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A6934EB9-A716-4C17-AD6E-2DBFB3F2263E}" type="datetimeFigureOut">
              <a:rPr lang="en-IN" smtClean="0"/>
              <a:t>01-09-2026</a:t>
            </a:fld>
            <a:endParaRPr lang="en-IN"/>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98EC9D53-FB90-42AE-A0FF-65F57EA57262}" type="slidenum">
              <a:rPr lang="en-IN" smtClean="0"/>
              <a:t>‹#›</a:t>
            </a:fld>
            <a:endParaRPr lang="en-IN"/>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6052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98EC9D53-FB90-42AE-A0FF-65F57EA57262}" type="slidenum">
              <a:rPr lang="en-IN" smtClean="0"/>
              <a:t>‹#›</a:t>
            </a:fld>
            <a:endParaRPr lang="en-IN"/>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16351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98EC9D53-FB90-42AE-A0FF-65F57EA57262}" type="slidenum">
              <a:rPr lang="en-IN" smtClean="0"/>
              <a:t>‹#›</a:t>
            </a:fld>
            <a:endParaRPr lang="en-IN"/>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651134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A6934EB9-A716-4C17-AD6E-2DBFB3F2263E}" type="datetimeFigureOut">
              <a:rPr lang="en-IN" smtClean="0"/>
              <a:t>01-09-2026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98EC9D53-FB90-42AE-A0FF-65F57EA57262}" type="slidenum">
              <a:rPr lang="en-IN" smtClean="0"/>
              <a:t>‹#›</a:t>
            </a:fld>
            <a:endParaRPr lang="en-IN"/>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24472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98EC9D53-FB90-42AE-A0FF-65F57EA57262}" type="slidenum">
              <a:rPr lang="en-IN" smtClean="0"/>
              <a:t>‹#›</a:t>
            </a:fld>
            <a:endParaRPr lang="en-IN"/>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6599275"/>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lang="en-IN"/>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A6934EB9-A716-4C17-AD6E-2DBFB3F2263E}" type="datetimeFigureOut">
              <a:rPr lang="en-IN" smtClean="0"/>
              <a:t>01-09-2026</a:t>
            </a:fld>
            <a:endParaRPr lang="en-IN"/>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98EC9D53-FB90-42AE-A0FF-65F57EA57262}" type="slidenum">
              <a:rPr lang="en-IN" smtClean="0"/>
              <a:t>‹#›</a:t>
            </a:fld>
            <a:endParaRPr lang="en-IN"/>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50997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IN"/>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A6934EB9-A716-4C17-AD6E-2DBFB3F2263E}" type="datetimeFigureOut">
              <a:rPr lang="en-IN" smtClean="0"/>
              <a:t>01-09-2026</a:t>
            </a:fld>
            <a:endParaRPr lang="en-IN"/>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98EC9D53-FB90-42AE-A0FF-65F57EA57262}" type="slidenum">
              <a:rPr lang="en-IN" smtClean="0"/>
              <a:t>‹#›</a:t>
            </a:fld>
            <a:endParaRPr lang="en-IN"/>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6493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A6934EB9-A716-4C17-AD6E-2DBFB3F2263E}" type="datetimeFigureOut">
              <a:rPr lang="en-IN" smtClean="0"/>
              <a:t>01-09-2026</a:t>
            </a:fld>
            <a:endParaRPr lang="en-IN"/>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98EC9D53-FB90-42AE-A0FF-65F57EA57262}" type="slidenum">
              <a:rPr lang="en-IN" smtClean="0"/>
              <a:t>‹#›</a:t>
            </a:fld>
            <a:endParaRPr lang="en-IN"/>
          </a:p>
        </p:txBody>
      </p:sp>
    </p:spTree>
    <p:extLst>
      <p:ext uri="{BB962C8B-B14F-4D97-AF65-F5344CB8AC3E}">
        <p14:creationId xmlns:p14="http://schemas.microsoft.com/office/powerpoint/2010/main" val="1877410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lang="en-IN"/>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6934EB9-A716-4C17-AD6E-2DBFB3F2263E}" type="datetimeFigureOut">
              <a:rPr lang="en-IN" smtClean="0"/>
              <a:t>01-09-2026</a:t>
            </a:fld>
            <a:endParaRPr lang="en-IN"/>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98EC9D53-FB90-42AE-A0FF-65F57EA57262}" type="slidenum">
              <a:rPr lang="en-IN" smtClean="0"/>
              <a:t>‹#›</a:t>
            </a:fld>
            <a:endParaRPr lang="en-IN"/>
          </a:p>
        </p:txBody>
      </p:sp>
    </p:spTree>
    <p:extLst>
      <p:ext uri="{BB962C8B-B14F-4D97-AF65-F5344CB8AC3E}">
        <p14:creationId xmlns:p14="http://schemas.microsoft.com/office/powerpoint/2010/main" val="2416893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98EC9D53-FB90-42AE-A0FF-65F57EA57262}" type="slidenum">
              <a:rPr lang="en-IN" smtClean="0"/>
              <a:t>‹#›</a:t>
            </a:fld>
            <a:endParaRPr lang="en-IN"/>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92849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IN"/>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98EC9D53-FB90-42AE-A0FF-65F57EA57262}" type="slidenum">
              <a:rPr lang="en-IN" smtClean="0"/>
              <a:t>‹#›</a:t>
            </a:fld>
            <a:endParaRPr lang="en-IN"/>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667665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IN"/>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A6934EB9-A716-4C17-AD6E-2DBFB3F2263E}" type="datetimeFigureOut">
              <a:rPr lang="en-IN" smtClean="0"/>
              <a:t>01-09-2026</a:t>
            </a:fld>
            <a:endParaRPr lang="en-IN"/>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98EC9D53-FB90-42AE-A0FF-65F57EA57262}" type="slidenum">
              <a:rPr lang="en-IN" smtClean="0"/>
              <a:t>‹#›</a:t>
            </a:fld>
            <a:endParaRPr lang="en-IN"/>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3382778067"/>
      </p:ext>
    </p:extLst>
  </p:cSld>
  <p:clrMap bg1="lt1" tx1="dk1" bg2="lt2" tx2="dk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 id="2147484069" r:id="rId12"/>
    <p:sldLayoutId id="2147484070" r:id="rId13"/>
    <p:sldLayoutId id="2147484071" r:id="rId14"/>
    <p:sldLayoutId id="2147484072" r:id="rId15"/>
    <p:sldLayoutId id="2147484073" r:id="rId16"/>
    <p:sldLayoutId id="2147484074" r:id="rId17"/>
    <p:sldLayoutId id="2147484075" r:id="rId18"/>
    <p:sldLayoutId id="2147484076" r:id="rId19"/>
    <p:sldLayoutId id="2147484077" r:id="rId20"/>
    <p:sldLayoutId id="2147484078" r:id="rId21"/>
    <p:sldLayoutId id="2147484079" r:id="rId22"/>
    <p:sldLayoutId id="2147484080" r:id="rId23"/>
    <p:sldLayoutId id="2147484081" r:id="rId24"/>
    <p:sldLayoutId id="2147484082" r:id="rId25"/>
    <p:sldLayoutId id="2147484083" r:id="rId26"/>
    <p:sldLayoutId id="2147484084" r:id="rId27"/>
  </p:sldLayoutIdLst>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DA5E7-D2F1-5BB6-F2F3-6C03E798D491}"/>
              </a:ext>
            </a:extLst>
          </p:cNvPr>
          <p:cNvSpPr>
            <a:spLocks noGrp="1"/>
          </p:cNvSpPr>
          <p:nvPr>
            <p:ph type="title"/>
          </p:nvPr>
        </p:nvSpPr>
        <p:spPr>
          <a:xfrm>
            <a:off x="2548328" y="2776361"/>
            <a:ext cx="8004198" cy="652639"/>
          </a:xfrm>
        </p:spPr>
        <p:txBody>
          <a:bodyPr>
            <a:noAutofit/>
          </a:bodyPr>
          <a:lstStyle/>
          <a:p>
            <a:r>
              <a:rPr lang="en-IN" sz="6000" dirty="0"/>
              <a:t>Comparative Analysis</a:t>
            </a:r>
          </a:p>
        </p:txBody>
      </p:sp>
    </p:spTree>
    <p:extLst>
      <p:ext uri="{BB962C8B-B14F-4D97-AF65-F5344CB8AC3E}">
        <p14:creationId xmlns:p14="http://schemas.microsoft.com/office/powerpoint/2010/main" val="2091693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DE241-63A6-8249-7BD2-208D3F112A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8F2931-BCFE-F593-8C8C-2B60653915C3}"/>
              </a:ext>
            </a:extLst>
          </p:cNvPr>
          <p:cNvSpPr>
            <a:spLocks noGrp="1"/>
          </p:cNvSpPr>
          <p:nvPr>
            <p:ph type="title"/>
          </p:nvPr>
        </p:nvSpPr>
        <p:spPr>
          <a:xfrm>
            <a:off x="290286" y="841829"/>
            <a:ext cx="8958096" cy="4985599"/>
          </a:xfrm>
        </p:spPr>
        <p:txBody>
          <a:bodyPr>
            <a:noAutofit/>
          </a:bodyPr>
          <a:lstStyle/>
          <a:p>
            <a:r>
              <a:rPr lang="en-US" sz="1800" b="1" dirty="0">
                <a:latin typeface="Aptos" panose="020B0004020202020204" pitchFamily="34" charset="0"/>
              </a:rPr>
              <a:t>Topic 10: Transport Layer Fundamentals</a:t>
            </a:r>
            <a:br>
              <a:rPr lang="en-US" sz="1800" b="1" dirty="0">
                <a:latin typeface="Aptos" panose="020B0004020202020204" pitchFamily="34" charset="0"/>
              </a:rPr>
            </a:br>
            <a:r>
              <a:rPr lang="en-US" sz="1800" b="1" dirty="0">
                <a:latin typeface="Aptos" panose="020B0004020202020204" pitchFamily="34" charset="0"/>
              </a:rPr>
              <a:t>(Duties, Multiplexing, Demultiplexing, TCP Sockets, UDP, TCP)</a:t>
            </a:r>
            <a:br>
              <a:rPr lang="en-US" sz="1800" b="1" dirty="0">
                <a:latin typeface="Aptos" panose="020B0004020202020204" pitchFamily="34" charset="0"/>
              </a:rPr>
            </a:br>
            <a:br>
              <a:rPr lang="en-US" sz="1800" b="1" dirty="0">
                <a:latin typeface="Aptos" panose="020B0004020202020204" pitchFamily="34" charset="0"/>
              </a:rPr>
            </a:br>
            <a:r>
              <a:rPr lang="en-US" sz="1800" b="1" dirty="0">
                <a:latin typeface="Aptos" panose="020B0004020202020204" pitchFamily="34" charset="0"/>
              </a:rPr>
              <a:t>1. Compare the duties of the Transport Layer in TCP and UDP. Which features are present in TCP but</a:t>
            </a:r>
            <a:br>
              <a:rPr lang="en-US" sz="1800" b="1" dirty="0">
                <a:latin typeface="Aptos" panose="020B0004020202020204" pitchFamily="34" charset="0"/>
              </a:rPr>
            </a:br>
            <a:r>
              <a:rPr lang="en-US" sz="1800" b="1" dirty="0">
                <a:latin typeface="Aptos" panose="020B0004020202020204" pitchFamily="34" charset="0"/>
              </a:rPr>
              <a:t>missing in UDP, and why does that matter?</a:t>
            </a:r>
            <a:br>
              <a:rPr lang="en-US" sz="1800" b="1" dirty="0">
                <a:latin typeface="Aptos" panose="020B0004020202020204" pitchFamily="34" charset="0"/>
              </a:rPr>
            </a:br>
            <a:br>
              <a:rPr lang="en-US" sz="1800" b="1" dirty="0">
                <a:latin typeface="Aptos" panose="020B0004020202020204" pitchFamily="34" charset="0"/>
              </a:rPr>
            </a:br>
            <a:br>
              <a:rPr lang="en-US" sz="1800" b="1" dirty="0">
                <a:latin typeface="Aptos" panose="020B0004020202020204" pitchFamily="34" charset="0"/>
              </a:rPr>
            </a:br>
            <a:r>
              <a:rPr lang="en-US" sz="1800" b="1" dirty="0">
                <a:latin typeface="Aptos" panose="020B0004020202020204" pitchFamily="34" charset="0"/>
              </a:rPr>
              <a:t>Topic 11: Congestion Control &amp;amp; Quality of Service</a:t>
            </a:r>
            <a:br>
              <a:rPr lang="en-US" sz="1800" b="1" dirty="0">
                <a:latin typeface="Aptos" panose="020B0004020202020204" pitchFamily="34" charset="0"/>
              </a:rPr>
            </a:br>
            <a:r>
              <a:rPr lang="en-US" sz="1800" b="1" dirty="0">
                <a:latin typeface="Aptos" panose="020B0004020202020204" pitchFamily="34" charset="0"/>
              </a:rPr>
              <a:t>(Congestion Control, QoS, Traffic Management)</a:t>
            </a:r>
            <a:br>
              <a:rPr lang="en-US" sz="1800" b="1" dirty="0">
                <a:latin typeface="Aptos" panose="020B0004020202020204" pitchFamily="34" charset="0"/>
              </a:rPr>
            </a:br>
            <a:br>
              <a:rPr lang="en-US" sz="1800" b="1" dirty="0">
                <a:latin typeface="Aptos" panose="020B0004020202020204" pitchFamily="34" charset="0"/>
              </a:rPr>
            </a:br>
            <a:r>
              <a:rPr lang="en-US" sz="1800" b="1" dirty="0">
                <a:latin typeface="Aptos" panose="020B0004020202020204" pitchFamily="34" charset="0"/>
              </a:rPr>
              <a:t>1. Compare the main goals of Congestion Control and Quality of Service (QoS). How do they work together</a:t>
            </a:r>
            <a:br>
              <a:rPr lang="en-US" sz="1800" b="1" dirty="0">
                <a:latin typeface="Aptos" panose="020B0004020202020204" pitchFamily="34" charset="0"/>
              </a:rPr>
            </a:br>
            <a:r>
              <a:rPr lang="en-US" sz="1800" b="1" dirty="0">
                <a:latin typeface="Aptos" panose="020B0004020202020204" pitchFamily="34" charset="0"/>
              </a:rPr>
              <a:t>to improve network performance?</a:t>
            </a:r>
            <a:br>
              <a:rPr lang="en-US" sz="1800" b="1" dirty="0">
                <a:latin typeface="Aptos" panose="020B0004020202020204" pitchFamily="34" charset="0"/>
              </a:rPr>
            </a:br>
            <a:br>
              <a:rPr lang="en-US" sz="1800" b="1" dirty="0">
                <a:latin typeface="Aptos" panose="020B0004020202020204" pitchFamily="34" charset="0"/>
              </a:rPr>
            </a:br>
            <a:br>
              <a:rPr lang="en-US" sz="1800" b="1" dirty="0">
                <a:latin typeface="Aptos" panose="020B0004020202020204" pitchFamily="34" charset="0"/>
              </a:rPr>
            </a:br>
            <a:r>
              <a:rPr lang="en-US" sz="1800" b="1" dirty="0">
                <a:latin typeface="Aptos" panose="020B0004020202020204" pitchFamily="34" charset="0"/>
              </a:rPr>
              <a:t>Topic 12: Queuing Models &amp;amp; Modern Protocols</a:t>
            </a:r>
            <a:br>
              <a:rPr lang="en-US" sz="1800" b="1" dirty="0">
                <a:latin typeface="Aptos" panose="020B0004020202020204" pitchFamily="34" charset="0"/>
              </a:rPr>
            </a:br>
            <a:r>
              <a:rPr lang="en-US" sz="1800" b="1" dirty="0">
                <a:latin typeface="Aptos" panose="020B0004020202020204" pitchFamily="34" charset="0"/>
              </a:rPr>
              <a:t>(Single Server, Multi-server, Priority Queues, Network of Queues, QUIC Protocol, TLS 1.3)</a:t>
            </a:r>
            <a:br>
              <a:rPr lang="en-US" sz="1800" b="1" dirty="0">
                <a:latin typeface="Aptos" panose="020B0004020202020204" pitchFamily="34" charset="0"/>
              </a:rPr>
            </a:br>
            <a:br>
              <a:rPr lang="en-US" sz="1800" b="1" dirty="0">
                <a:latin typeface="Aptos" panose="020B0004020202020204" pitchFamily="34" charset="0"/>
              </a:rPr>
            </a:br>
            <a:r>
              <a:rPr lang="en-US" sz="1800" b="1" dirty="0">
                <a:latin typeface="Aptos" panose="020B0004020202020204" pitchFamily="34" charset="0"/>
              </a:rPr>
              <a:t>1. Compare Single Server and Multi-server queuing models. In which network scenario would a multi-server</a:t>
            </a:r>
            <a:br>
              <a:rPr lang="en-US" sz="1800" b="1" dirty="0">
                <a:latin typeface="Aptos" panose="020B0004020202020204" pitchFamily="34" charset="0"/>
              </a:rPr>
            </a:br>
            <a:r>
              <a:rPr lang="en-US" sz="1800" b="1" dirty="0">
                <a:latin typeface="Aptos" panose="020B0004020202020204" pitchFamily="34" charset="0"/>
              </a:rPr>
              <a:t>queue perform better?</a:t>
            </a:r>
            <a:br>
              <a:rPr lang="en-US" sz="1800" dirty="0">
                <a:latin typeface="Aptos Display" panose="020B0004020202020204" pitchFamily="34" charset="0"/>
              </a:rPr>
            </a:br>
            <a:br>
              <a:rPr lang="en-US" sz="1800" dirty="0">
                <a:latin typeface="Aptos Display" panose="020B0004020202020204" pitchFamily="34" charset="0"/>
              </a:rPr>
            </a:br>
            <a:endParaRPr lang="en-IN" sz="1800" dirty="0">
              <a:latin typeface="Aptos Display" panose="020B0004020202020204" pitchFamily="34" charset="0"/>
            </a:endParaRPr>
          </a:p>
        </p:txBody>
      </p:sp>
    </p:spTree>
    <p:extLst>
      <p:ext uri="{BB962C8B-B14F-4D97-AF65-F5344CB8AC3E}">
        <p14:creationId xmlns:p14="http://schemas.microsoft.com/office/powerpoint/2010/main" val="73111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6BB760A-AFA9-47DB-60A4-FBAABD2CF203}"/>
              </a:ext>
            </a:extLst>
          </p:cNvPr>
          <p:cNvSpPr txBox="1"/>
          <p:nvPr/>
        </p:nvSpPr>
        <p:spPr>
          <a:xfrm>
            <a:off x="419726" y="612844"/>
            <a:ext cx="8919146" cy="5632311"/>
          </a:xfrm>
          <a:prstGeom prst="rect">
            <a:avLst/>
          </a:prstGeom>
          <a:noFill/>
        </p:spPr>
        <p:txBody>
          <a:bodyPr wrap="square">
            <a:spAutoFit/>
          </a:bodyPr>
          <a:lstStyle/>
          <a:p>
            <a:pPr algn="just">
              <a:buNone/>
            </a:pPr>
            <a:r>
              <a:rPr lang="en-IN" sz="2000" b="1" dirty="0"/>
              <a:t>TCP vs UDP — Transport Layer</a:t>
            </a:r>
          </a:p>
          <a:p>
            <a:pPr algn="just">
              <a:buNone/>
            </a:pPr>
            <a:r>
              <a:rPr lang="en-IN" sz="2000" b="1" dirty="0"/>
              <a:t>🔵 TCP</a:t>
            </a:r>
          </a:p>
          <a:p>
            <a:pPr marL="342900" lvl="0" indent="-342900" algn="just">
              <a:buFont typeface="Arial" panose="020B0604020202020204" pitchFamily="34" charset="0"/>
              <a:buChar char="•"/>
            </a:pPr>
            <a:r>
              <a:rPr lang="en-IN" sz="2000" dirty="0"/>
              <a:t>Connection-oriented</a:t>
            </a:r>
          </a:p>
          <a:p>
            <a:pPr marL="342900" lvl="0" indent="-342900" algn="just">
              <a:buFont typeface="Arial" panose="020B0604020202020204" pitchFamily="34" charset="0"/>
              <a:buChar char="•"/>
            </a:pPr>
            <a:r>
              <a:rPr lang="en-IN" sz="2000" dirty="0"/>
              <a:t>Reliable delivery</a:t>
            </a:r>
          </a:p>
          <a:p>
            <a:pPr marL="342900" lvl="0" indent="-342900" algn="just">
              <a:buFont typeface="Arial" panose="020B0604020202020204" pitchFamily="34" charset="0"/>
              <a:buChar char="•"/>
            </a:pPr>
            <a:r>
              <a:rPr lang="en-IN" sz="2000" dirty="0"/>
              <a:t>Maintains packet order</a:t>
            </a:r>
          </a:p>
          <a:p>
            <a:pPr marL="342900" lvl="0" indent="-342900" algn="just">
              <a:buFont typeface="Arial" panose="020B0604020202020204" pitchFamily="34" charset="0"/>
              <a:buChar char="•"/>
            </a:pPr>
            <a:r>
              <a:rPr lang="en-IN" sz="2000" dirty="0"/>
              <a:t>Retransmission of lost data</a:t>
            </a:r>
          </a:p>
          <a:p>
            <a:pPr marL="342900" lvl="0" indent="-342900" algn="just">
              <a:buFont typeface="Arial" panose="020B0604020202020204" pitchFamily="34" charset="0"/>
              <a:buChar char="•"/>
            </a:pPr>
            <a:r>
              <a:rPr lang="en-IN" sz="2000" dirty="0"/>
              <a:t>Flow &amp; congestion control</a:t>
            </a:r>
          </a:p>
          <a:p>
            <a:pPr marL="342900" lvl="0" indent="-342900" algn="just">
              <a:buFont typeface="Arial" panose="020B0604020202020204" pitchFamily="34" charset="0"/>
              <a:buChar char="•"/>
            </a:pPr>
            <a:r>
              <a:rPr lang="en-IN" sz="2000" b="1" dirty="0"/>
              <a:t>Used for:</a:t>
            </a:r>
            <a:r>
              <a:rPr lang="en-IN" sz="2000" dirty="0"/>
              <a:t> File transfer, web applications</a:t>
            </a:r>
          </a:p>
          <a:p>
            <a:pPr algn="just">
              <a:buNone/>
            </a:pPr>
            <a:r>
              <a:rPr lang="en-IN" sz="2000" b="1" dirty="0"/>
              <a:t>🟢 UDP</a:t>
            </a:r>
          </a:p>
          <a:p>
            <a:pPr marL="342900" lvl="0" indent="-342900" algn="just">
              <a:buFont typeface="Arial" panose="020B0604020202020204" pitchFamily="34" charset="0"/>
              <a:buChar char="•"/>
            </a:pPr>
            <a:r>
              <a:rPr lang="en-IN" sz="2000" dirty="0"/>
              <a:t>Connectionless</a:t>
            </a:r>
          </a:p>
          <a:p>
            <a:pPr marL="342900" lvl="0" indent="-342900" algn="just">
              <a:buFont typeface="Arial" panose="020B0604020202020204" pitchFamily="34" charset="0"/>
              <a:buChar char="•"/>
            </a:pPr>
            <a:r>
              <a:rPr lang="en-IN" sz="2000" dirty="0"/>
              <a:t>No delivery guarantee</a:t>
            </a:r>
          </a:p>
          <a:p>
            <a:pPr marL="342900" lvl="0" indent="-342900" algn="just">
              <a:buFont typeface="Arial" panose="020B0604020202020204" pitchFamily="34" charset="0"/>
              <a:buChar char="•"/>
            </a:pPr>
            <a:r>
              <a:rPr lang="en-IN" sz="2000" dirty="0"/>
              <a:t>No packet ordering</a:t>
            </a:r>
          </a:p>
          <a:p>
            <a:pPr marL="342900" lvl="0" indent="-342900" algn="just">
              <a:buFont typeface="Arial" panose="020B0604020202020204" pitchFamily="34" charset="0"/>
              <a:buChar char="•"/>
            </a:pPr>
            <a:r>
              <a:rPr lang="en-IN" sz="2000" dirty="0"/>
              <a:t>No retransmission</a:t>
            </a:r>
          </a:p>
          <a:p>
            <a:pPr marL="342900" lvl="0" indent="-342900" algn="just">
              <a:buFont typeface="Arial" panose="020B0604020202020204" pitchFamily="34" charset="0"/>
              <a:buChar char="•"/>
            </a:pPr>
            <a:r>
              <a:rPr lang="en-IN" sz="2000" dirty="0"/>
              <a:t>No flow &amp; congestion control</a:t>
            </a:r>
          </a:p>
          <a:p>
            <a:pPr marL="342900" lvl="0" indent="-342900" algn="just">
              <a:buFont typeface="Arial" panose="020B0604020202020204" pitchFamily="34" charset="0"/>
              <a:buChar char="•"/>
            </a:pPr>
            <a:r>
              <a:rPr lang="en-IN" sz="2000" b="1" dirty="0"/>
              <a:t>Used for:</a:t>
            </a:r>
            <a:r>
              <a:rPr lang="en-IN" sz="2000" dirty="0"/>
              <a:t> Video calls, online gaming, live streaming</a:t>
            </a:r>
          </a:p>
          <a:p>
            <a:pPr algn="just">
              <a:buNone/>
            </a:pPr>
            <a:r>
              <a:rPr lang="en-IN" sz="2000" b="1" dirty="0"/>
              <a:t>⚡ Key Comparison</a:t>
            </a:r>
          </a:p>
          <a:p>
            <a:pPr algn="just">
              <a:buNone/>
            </a:pPr>
            <a:r>
              <a:rPr lang="en-IN" sz="2000" b="1" dirty="0"/>
              <a:t>TCP → Reliability &amp; Control</a:t>
            </a:r>
            <a:endParaRPr lang="en-IN" sz="2000" dirty="0"/>
          </a:p>
          <a:p>
            <a:pPr algn="just">
              <a:buNone/>
            </a:pPr>
            <a:r>
              <a:rPr lang="en-IN" sz="2000" b="1" dirty="0"/>
              <a:t>UDP → Speed &amp; Low Overhead</a:t>
            </a:r>
          </a:p>
        </p:txBody>
      </p:sp>
      <p:sp>
        <p:nvSpPr>
          <p:cNvPr id="5" name="TextBox 4">
            <a:extLst>
              <a:ext uri="{FF2B5EF4-FFF2-40B4-BE49-F238E27FC236}">
                <a16:creationId xmlns:a16="http://schemas.microsoft.com/office/drawing/2014/main" id="{7854E2FB-4FC6-A5AE-8AC0-839C7DD3559C}"/>
              </a:ext>
            </a:extLst>
          </p:cNvPr>
          <p:cNvSpPr txBox="1"/>
          <p:nvPr/>
        </p:nvSpPr>
        <p:spPr>
          <a:xfrm>
            <a:off x="9653666" y="5966085"/>
            <a:ext cx="184731" cy="2031325"/>
          </a:xfrm>
          <a:prstGeom prst="rect">
            <a:avLst/>
          </a:prstGeom>
          <a:noFill/>
        </p:spPr>
        <p:txBody>
          <a:bodyPr wrap="none" rtlCol="0">
            <a:spAutoFit/>
          </a:bodyPr>
          <a:lstStyle/>
          <a:p>
            <a:endParaRPr lang="en-US" dirty="0"/>
          </a:p>
          <a:p>
            <a:endParaRPr lang="en-IN" dirty="0"/>
          </a:p>
          <a:p>
            <a:endParaRPr lang="en-IN" dirty="0"/>
          </a:p>
          <a:p>
            <a:endParaRPr lang="en-IN" dirty="0"/>
          </a:p>
          <a:p>
            <a:endParaRPr lang="en-IN" dirty="0"/>
          </a:p>
          <a:p>
            <a:endParaRPr lang="en-IN" dirty="0"/>
          </a:p>
          <a:p>
            <a:endParaRPr lang="en-IN" dirty="0"/>
          </a:p>
        </p:txBody>
      </p:sp>
      <p:pic>
        <p:nvPicPr>
          <p:cNvPr id="6" name="Audio 5">
            <a:hlinkClick r:id="" action="ppaction://media"/>
            <a:extLst>
              <a:ext uri="{FF2B5EF4-FFF2-40B4-BE49-F238E27FC236}">
                <a16:creationId xmlns:a16="http://schemas.microsoft.com/office/drawing/2014/main" id="{8125ACFD-BEB8-11F1-7002-8A5D2265EEFF}"/>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4049217532"/>
      </p:ext>
    </p:extLst>
  </p:cSld>
  <p:clrMapOvr>
    <a:masterClrMapping/>
  </p:clrMapOvr>
  <mc:AlternateContent xmlns:mc="http://schemas.openxmlformats.org/markup-compatibility/2006" xmlns:p14="http://schemas.microsoft.com/office/powerpoint/2010/main">
    <mc:Choice Requires="p14">
      <p:transition spd="slow" p14:dur="2000" advTm="56652"/>
    </mc:Choice>
    <mc:Fallback xmlns="">
      <p:transition spd="slow" advTm="566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D9FA79-AFC5-ABC0-32BD-65AB2B2EBA24}"/>
              </a:ext>
            </a:extLst>
          </p:cNvPr>
          <p:cNvSpPr txBox="1"/>
          <p:nvPr/>
        </p:nvSpPr>
        <p:spPr>
          <a:xfrm>
            <a:off x="464695" y="612844"/>
            <a:ext cx="9114019" cy="5632311"/>
          </a:xfrm>
          <a:prstGeom prst="rect">
            <a:avLst/>
          </a:prstGeom>
          <a:noFill/>
        </p:spPr>
        <p:txBody>
          <a:bodyPr wrap="square">
            <a:spAutoFit/>
          </a:bodyPr>
          <a:lstStyle/>
          <a:p>
            <a:pPr>
              <a:buNone/>
            </a:pPr>
            <a:r>
              <a:rPr lang="en-IN" sz="2000" b="1" dirty="0"/>
              <a:t>Congestion Control vs QoS</a:t>
            </a:r>
          </a:p>
          <a:p>
            <a:pPr>
              <a:buNone/>
            </a:pPr>
            <a:r>
              <a:rPr lang="en-IN" sz="2000" b="1" dirty="0"/>
              <a:t>🔵 Congestion Control</a:t>
            </a:r>
          </a:p>
          <a:p>
            <a:pPr marL="342900" lvl="0" indent="-342900">
              <a:buFont typeface="Arial" panose="020B0604020202020204" pitchFamily="34" charset="0"/>
              <a:buChar char="•"/>
            </a:pPr>
            <a:r>
              <a:rPr lang="en-IN" sz="2000" dirty="0"/>
              <a:t>Prevents network overload</a:t>
            </a:r>
          </a:p>
          <a:p>
            <a:pPr marL="342900" lvl="0" indent="-342900">
              <a:buFont typeface="Arial" panose="020B0604020202020204" pitchFamily="34" charset="0"/>
              <a:buChar char="•"/>
            </a:pPr>
            <a:r>
              <a:rPr lang="en-IN" sz="2000" dirty="0"/>
              <a:t>Controls excessive traffic</a:t>
            </a:r>
          </a:p>
          <a:p>
            <a:pPr marL="342900" lvl="0" indent="-342900">
              <a:buFont typeface="Arial" panose="020B0604020202020204" pitchFamily="34" charset="0"/>
              <a:buChar char="•"/>
            </a:pPr>
            <a:r>
              <a:rPr lang="en-IN" sz="2000" dirty="0"/>
              <a:t>Reduces packet loss</a:t>
            </a:r>
          </a:p>
          <a:p>
            <a:pPr marL="342900" lvl="0" indent="-342900">
              <a:buFont typeface="Arial" panose="020B0604020202020204" pitchFamily="34" charset="0"/>
              <a:buChar char="•"/>
            </a:pPr>
            <a:r>
              <a:rPr lang="en-IN" sz="2000" dirty="0"/>
              <a:t>Maintains stable network performance</a:t>
            </a:r>
          </a:p>
          <a:p>
            <a:pPr marL="342900" lvl="0" indent="-342900">
              <a:buFont typeface="Arial" panose="020B0604020202020204" pitchFamily="34" charset="0"/>
              <a:buChar char="•"/>
            </a:pPr>
            <a:r>
              <a:rPr lang="en-IN" sz="2000" b="1" dirty="0"/>
              <a:t>Goal:</a:t>
            </a:r>
            <a:r>
              <a:rPr lang="en-IN" sz="2000" dirty="0"/>
              <a:t> Avoid congestion</a:t>
            </a:r>
          </a:p>
          <a:p>
            <a:pPr>
              <a:buNone/>
            </a:pPr>
            <a:r>
              <a:rPr lang="en-IN" sz="2000" b="1" dirty="0"/>
              <a:t>🟢 Quality of Service (QoS)</a:t>
            </a:r>
          </a:p>
          <a:p>
            <a:pPr marL="342900" lvl="0" indent="-342900">
              <a:buFont typeface="Arial" panose="020B0604020202020204" pitchFamily="34" charset="0"/>
              <a:buChar char="•"/>
            </a:pPr>
            <a:r>
              <a:rPr lang="en-IN" sz="2000" dirty="0"/>
              <a:t>Prioritizes important traffic</a:t>
            </a:r>
          </a:p>
          <a:p>
            <a:pPr marL="342900" lvl="0" indent="-342900">
              <a:buFont typeface="Arial" panose="020B0604020202020204" pitchFamily="34" charset="0"/>
              <a:buChar char="•"/>
            </a:pPr>
            <a:r>
              <a:rPr lang="en-IN" sz="2000" dirty="0"/>
              <a:t>Manages bandwidth</a:t>
            </a:r>
          </a:p>
          <a:p>
            <a:pPr marL="342900" lvl="0" indent="-342900">
              <a:buFont typeface="Arial" panose="020B0604020202020204" pitchFamily="34" charset="0"/>
              <a:buChar char="•"/>
            </a:pPr>
            <a:r>
              <a:rPr lang="en-IN" sz="2000" dirty="0"/>
              <a:t>Reduces delay and jitter</a:t>
            </a:r>
          </a:p>
          <a:p>
            <a:pPr marL="342900" lvl="0" indent="-342900">
              <a:buFont typeface="Arial" panose="020B0604020202020204" pitchFamily="34" charset="0"/>
              <a:buChar char="•"/>
            </a:pPr>
            <a:r>
              <a:rPr lang="en-IN" sz="2000" dirty="0"/>
              <a:t>Improves application performance</a:t>
            </a:r>
          </a:p>
          <a:p>
            <a:pPr marL="342900" lvl="0" indent="-342900">
              <a:buFont typeface="Arial" panose="020B0604020202020204" pitchFamily="34" charset="0"/>
              <a:buChar char="•"/>
            </a:pPr>
            <a:r>
              <a:rPr lang="en-IN" sz="2000" b="1" dirty="0"/>
              <a:t>Goal:</a:t>
            </a:r>
            <a:r>
              <a:rPr lang="en-IN" sz="2000" dirty="0"/>
              <a:t> Provide better service quality</a:t>
            </a:r>
          </a:p>
          <a:p>
            <a:pPr>
              <a:buNone/>
            </a:pPr>
            <a:r>
              <a:rPr lang="en-IN" sz="2000" b="1" dirty="0"/>
              <a:t>⚡ Key Comparison</a:t>
            </a:r>
          </a:p>
          <a:p>
            <a:pPr>
              <a:buNone/>
            </a:pPr>
            <a:r>
              <a:rPr lang="en-IN" sz="2000" b="1" dirty="0"/>
              <a:t>Congestion Control → Prevents Overload</a:t>
            </a:r>
            <a:endParaRPr lang="en-IN" sz="2000" dirty="0"/>
          </a:p>
          <a:p>
            <a:pPr>
              <a:buNone/>
            </a:pPr>
            <a:r>
              <a:rPr lang="en-IN" sz="2000" b="1" dirty="0"/>
              <a:t>QoS → Prioritizes Important Traffic</a:t>
            </a:r>
            <a:endParaRPr lang="en-IN" sz="2000" dirty="0"/>
          </a:p>
          <a:p>
            <a:pPr>
              <a:buNone/>
            </a:pPr>
            <a:r>
              <a:rPr lang="en-IN" sz="2000" b="1" dirty="0"/>
              <a:t>🤝 Together</a:t>
            </a:r>
          </a:p>
          <a:p>
            <a:pPr>
              <a:buNone/>
            </a:pPr>
            <a:r>
              <a:rPr lang="en-IN" sz="2000" b="1" dirty="0"/>
              <a:t>Less Congestion + Better Prioritization = Better Network Performance</a:t>
            </a:r>
            <a:endParaRPr lang="en-IN" dirty="0"/>
          </a:p>
        </p:txBody>
      </p:sp>
      <p:pic>
        <p:nvPicPr>
          <p:cNvPr id="4" name="Audio 3">
            <a:hlinkClick r:id="" action="ppaction://media"/>
            <a:extLst>
              <a:ext uri="{FF2B5EF4-FFF2-40B4-BE49-F238E27FC236}">
                <a16:creationId xmlns:a16="http://schemas.microsoft.com/office/drawing/2014/main" id="{6708A848-780B-F14F-AC1D-1412432A93CF}"/>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93428486"/>
      </p:ext>
    </p:extLst>
  </p:cSld>
  <p:clrMapOvr>
    <a:masterClrMapping/>
  </p:clrMapOvr>
  <mc:AlternateContent xmlns:mc="http://schemas.openxmlformats.org/markup-compatibility/2006" xmlns:p14="http://schemas.microsoft.com/office/powerpoint/2010/main">
    <mc:Choice Requires="p14">
      <p:transition spd="slow" p14:dur="2000" advTm="61264"/>
    </mc:Choice>
    <mc:Fallback xmlns="">
      <p:transition spd="slow" advTm="612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A188B-4227-2D89-8C4F-53ED2A920D3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CDB2BB-B7C7-C568-2BC5-ABC44F530CED}"/>
              </a:ext>
            </a:extLst>
          </p:cNvPr>
          <p:cNvSpPr txBox="1"/>
          <p:nvPr/>
        </p:nvSpPr>
        <p:spPr>
          <a:xfrm>
            <a:off x="344773" y="479685"/>
            <a:ext cx="9248931" cy="5909310"/>
          </a:xfrm>
          <a:prstGeom prst="rect">
            <a:avLst/>
          </a:prstGeom>
          <a:noFill/>
        </p:spPr>
        <p:txBody>
          <a:bodyPr wrap="square">
            <a:spAutoFit/>
          </a:bodyPr>
          <a:lstStyle/>
          <a:p>
            <a:r>
              <a:rPr lang="en-IN" sz="2000" b="1" dirty="0"/>
              <a:t>Single Server vs Multi-server Queuing</a:t>
            </a:r>
          </a:p>
          <a:p>
            <a:r>
              <a:rPr lang="en-IN" sz="2000" b="1" dirty="0"/>
              <a:t>🔵 Single Server</a:t>
            </a:r>
          </a:p>
          <a:p>
            <a:pPr lvl="0"/>
            <a:r>
              <a:rPr lang="en-IN" sz="2000" dirty="0"/>
              <a:t>One server handles all requests</a:t>
            </a:r>
          </a:p>
          <a:p>
            <a:pPr lvl="0"/>
            <a:r>
              <a:rPr lang="en-IN" sz="2000" dirty="0"/>
              <a:t>Simple to manage</a:t>
            </a:r>
          </a:p>
          <a:p>
            <a:pPr lvl="0"/>
            <a:r>
              <a:rPr lang="en-IN" sz="2000" dirty="0"/>
              <a:t>Longer waiting time during heavy traffic</a:t>
            </a:r>
          </a:p>
          <a:p>
            <a:pPr lvl="0"/>
            <a:r>
              <a:rPr lang="en-IN" sz="2000" dirty="0"/>
              <a:t>Can become a bottleneck</a:t>
            </a:r>
          </a:p>
          <a:p>
            <a:pPr lvl="0"/>
            <a:r>
              <a:rPr lang="en-IN" sz="2000" b="1" dirty="0"/>
              <a:t>Example:</a:t>
            </a:r>
            <a:r>
              <a:rPr lang="en-IN" sz="2000" dirty="0"/>
              <a:t> One network server handling requests</a:t>
            </a:r>
          </a:p>
          <a:p>
            <a:r>
              <a:rPr lang="en-IN" sz="2000" b="1" dirty="0"/>
              <a:t>🟢 Multi-server</a:t>
            </a:r>
          </a:p>
          <a:p>
            <a:pPr lvl="0"/>
            <a:r>
              <a:rPr lang="en-IN" sz="2000" dirty="0"/>
              <a:t>Multiple servers handle requests</a:t>
            </a:r>
          </a:p>
          <a:p>
            <a:pPr lvl="0"/>
            <a:r>
              <a:rPr lang="en-IN" sz="2000" dirty="0"/>
              <a:t>Requests can be processed simultaneously</a:t>
            </a:r>
          </a:p>
          <a:p>
            <a:pPr lvl="0"/>
            <a:r>
              <a:rPr lang="en-IN" sz="2000" dirty="0"/>
              <a:t>Reduces waiting time</a:t>
            </a:r>
          </a:p>
          <a:p>
            <a:pPr lvl="0"/>
            <a:r>
              <a:rPr lang="en-IN" sz="2000" dirty="0"/>
              <a:t>Handles high traffic better</a:t>
            </a:r>
          </a:p>
          <a:p>
            <a:pPr lvl="0"/>
            <a:r>
              <a:rPr lang="en-IN" sz="2000" b="1" dirty="0"/>
              <a:t>Example:</a:t>
            </a:r>
            <a:r>
              <a:rPr lang="en-IN" sz="2000" dirty="0"/>
              <a:t> Multiple servers in a data </a:t>
            </a:r>
            <a:r>
              <a:rPr lang="en-IN" sz="2000" dirty="0" err="1"/>
              <a:t>center</a:t>
            </a:r>
            <a:endParaRPr lang="en-IN" sz="2000" dirty="0"/>
          </a:p>
          <a:p>
            <a:r>
              <a:rPr lang="en-IN" sz="2000" b="1" dirty="0"/>
              <a:t>⚡ Key Comparison</a:t>
            </a:r>
          </a:p>
          <a:p>
            <a:r>
              <a:rPr lang="en-IN" sz="2000" b="1" dirty="0"/>
              <a:t>Single Server → Simple but limited capacity</a:t>
            </a:r>
            <a:endParaRPr lang="en-IN" sz="2000" dirty="0"/>
          </a:p>
          <a:p>
            <a:r>
              <a:rPr lang="en-IN" sz="2000" b="1" dirty="0"/>
              <a:t>Multi-server → Higher capacity &amp; less waiting</a:t>
            </a:r>
            <a:endParaRPr lang="en-IN" sz="2000" dirty="0"/>
          </a:p>
          <a:p>
            <a:r>
              <a:rPr lang="en-IN" sz="2000" b="1" dirty="0"/>
              <a:t>🌐 Best Scenario</a:t>
            </a:r>
          </a:p>
          <a:p>
            <a:r>
              <a:rPr lang="en-IN" sz="2000" b="1" dirty="0"/>
              <a:t>High-traffic networks → Multi-server queue</a:t>
            </a:r>
            <a:endParaRPr lang="en-IN" sz="2000" dirty="0"/>
          </a:p>
          <a:p>
            <a:pPr>
              <a:buNone/>
            </a:pPr>
            <a:endParaRPr lang="en-IN" dirty="0"/>
          </a:p>
        </p:txBody>
      </p:sp>
      <p:pic>
        <p:nvPicPr>
          <p:cNvPr id="8" name="Audio 7">
            <a:hlinkClick r:id="" action="ppaction://media"/>
            <a:extLst>
              <a:ext uri="{FF2B5EF4-FFF2-40B4-BE49-F238E27FC236}">
                <a16:creationId xmlns:a16="http://schemas.microsoft.com/office/drawing/2014/main" id="{926384A2-C3D9-CE96-C6B9-290543E27686}"/>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200000" t="-90625" r="-200000" b="-90625"/>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445499494"/>
      </p:ext>
    </p:extLst>
  </p:cSld>
  <p:clrMapOvr>
    <a:masterClrMapping/>
  </p:clrMapOvr>
  <mc:AlternateContent xmlns:mc="http://schemas.openxmlformats.org/markup-compatibility/2006" xmlns:p14="http://schemas.microsoft.com/office/powerpoint/2010/main">
    <mc:Choice Requires="p14">
      <p:transition spd="slow" p14:dur="2000" advTm="53125"/>
    </mc:Choice>
    <mc:Fallback xmlns="">
      <p:transition spd="slow" advTm="531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docProps/app.xml><?xml version="1.0" encoding="utf-8"?>
<Properties xmlns="http://schemas.openxmlformats.org/officeDocument/2006/extended-properties" xmlns:vt="http://schemas.openxmlformats.org/officeDocument/2006/docPropsVTypes">
  <Template>Editorial</Template>
  <TotalTime>60</TotalTime>
  <Words>397</Words>
  <Application>Microsoft Office PowerPoint</Application>
  <PresentationFormat>Widescreen</PresentationFormat>
  <Paragraphs>61</Paragraphs>
  <Slides>5</Slides>
  <Notes>0</Notes>
  <HiddenSlides>0</HiddenSlides>
  <MMClips>3</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Haettenschweiler</vt:lpstr>
      <vt:lpstr>Trade Gothic Next Light</vt:lpstr>
      <vt:lpstr>Editorial</vt:lpstr>
      <vt:lpstr>Comparative Analysis</vt:lpstr>
      <vt:lpstr>Topic 10: Transport Layer Fundamentals (Duties, Multiplexing, Demultiplexing, TCP Sockets, UDP, TCP)  1. Compare the duties of the Transport Layer in TCP and UDP. Which features are present in TCP but missing in UDP, and why does that matter?   Topic 11: Congestion Control &amp;amp; Quality of Service (Congestion Control, QoS, Traffic Management)  1. Compare the main goals of Congestion Control and Quality of Service (QoS). How do they work together to improve network performance?   Topic 12: Queuing Models &amp;amp; Modern Protocols (Single Server, Multi-server, Priority Queues, Network of Queues, QUIC Protocol, TLS 1.3)  1. Compare Single Server and Multi-server queuing models. In which network scenario would a multi-server queue perform better?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u.lakshikhaa shri</dc:creator>
  <cp:lastModifiedBy>u.lakshikhaa shri</cp:lastModifiedBy>
  <cp:revision>5</cp:revision>
  <dcterms:created xsi:type="dcterms:W3CDTF">2026-08-21T04:25:48Z</dcterms:created>
  <dcterms:modified xsi:type="dcterms:W3CDTF">2026-09-01T14:24:12Z</dcterms:modified>
</cp:coreProperties>
</file>